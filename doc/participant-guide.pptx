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webextensions/taskpanes.xml" ContentType="application/vnd.ms-office.webextensiontaskpanes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webextensions/webextension1.xml" ContentType="application/vnd.ms-office.webextension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82" r:id="rId2"/>
    <p:sldId id="280" r:id="rId3"/>
    <p:sldId id="283" r:id="rId4"/>
    <p:sldId id="270" r:id="rId5"/>
    <p:sldId id="275" r:id="rId6"/>
    <p:sldId id="276" r:id="rId7"/>
    <p:sldId id="284" r:id="rId8"/>
    <p:sldId id="277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00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208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6967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EF"/>
          </a:solidFill>
          <a:ln w="12700">
            <a:solidFill>
              <a:srgbClr val="F1F1E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Users/ricky.c.wong/.copilot/skills/creating-accenture-presentations/assets/logos/Acc_Logo_Black_Purple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12064"/>
            <a:ext cx="173736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41732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Hackathon participant guide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58368" y="1828800"/>
            <a:ext cx="6583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Reinventing the monthly client billing cycle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658368" y="30906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Meridian Atlas Partners | one-day design sprint | teams of 3-4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41080" y="9326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What teams must do today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41080" y="1353312"/>
            <a:ext cx="2697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Qualify the RDE opportunity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Build the most valuable slice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Build the 90-day engagement case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58368" y="4191000"/>
            <a:ext cx="635508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868680" y="4381500"/>
            <a:ext cx="5943600" cy="1524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Simulate an RDE pod: qualify the use case, design the target process, and prove the highest-value slice with a working prototype.</a:t>
            </a:r>
          </a:p>
          <a:p>
            <a:pPr marL="0" indent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Day 2 is the build day. Day 3 is the executive pitch.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The goal is not to solve everything. The goal is to focus, justify, and show measurable value.</a:t>
            </a:r>
          </a:p>
        </p:txBody>
      </p:sp>
      <p:pic>
        <p:nvPicPr>
          <p:cNvPr id="12" name="Image 1" descr="/Users/ricky.c.wong/.copilot/skills/creating-accenture-presentations/assets/greater-than/Acc_GT_Solid_P1_RG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704" y="5175504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889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9"/>
          <p:cNvSpPr/>
          <p:nvPr/>
        </p:nvSpPr>
        <p:spPr>
          <a:xfrm>
            <a:off x="6199632" y="2095500"/>
            <a:ext cx="539496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594360" y="2095500"/>
            <a:ext cx="539496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Case overview</a:t>
            </a:r>
            <a:endParaRPr lang="en-US" sz="900" dirty="0"/>
          </a:p>
        </p:txBody>
      </p:sp>
      <p:pic>
        <p:nvPicPr>
          <p:cNvPr id="4" name="Image 0" descr="/Users/ricky.c.wong/.copilot/skills/creating-accenture-presentations/assets/greater-than/Acc_GT_Solid_P1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310896"/>
            <a:ext cx="320040" cy="320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6400800"/>
            <a:ext cx="11018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1138428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1323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What this case asks teams to solve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Meridian needs a future-state billing model that scales without adding the same manual effort.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2324100"/>
            <a:ext cx="53035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Challenge and objective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36208" y="2324100"/>
            <a:ext cx="53492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Hard constraints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04672" y="2692400"/>
            <a:ext cx="4919472" cy="24765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Meridian's monthly billing cycle is manual, exception-heavy, and expensive to scale.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Teams must redesign the future-state process, prove the highest-value slice with a working prototype, and defend the investment case.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The goal is not to solve everything. The goal is to focus, justify, and show measurable value.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19088" y="2692400"/>
            <a:ext cx="4919472" cy="24765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No Project Lead-facing changes during the initiative window.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SAP stays the system of record; any write to SAP must be demonstrably risk-free.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Existing batch jobs and scheduled ERP triggers are out of scope.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Use only synthetic data and preserve compliance-grade traceability.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78047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Current process</a:t>
            </a:r>
            <a:endParaRPr lang="en-US" sz="900" dirty="0"/>
          </a:p>
        </p:txBody>
      </p:sp>
      <p:pic>
        <p:nvPicPr>
          <p:cNvPr id="4" name="Image 0" descr="/Users/ricky.c.wong/.copilot/skills/creating-accenture-presentations/assets/greater-than/Acc_GT_Solid_P1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310896"/>
            <a:ext cx="320040" cy="320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6400800"/>
            <a:ext cx="11018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38428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1323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Where analyst time goes today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The billing work starts after the draft invoice already exists in SAP.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828800"/>
            <a:ext cx="3154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58952" y="197510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1. Capture time and expenses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160520" y="1828800"/>
            <a:ext cx="3154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325112" y="197510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2. Generate draft invoice in SAP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26680" y="1828800"/>
            <a:ext cx="3154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891272" y="197510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3. Collate backup documents from SharePoint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94360" y="3154680"/>
            <a:ext cx="3154680" cy="9144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58952" y="330098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4. Reconcile invoice, transactions, and support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160520" y="3154680"/>
            <a:ext cx="3154680" cy="9144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325112" y="330098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5. Triage exceptions across systems and channels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726680" y="3154680"/>
            <a:ext cx="3154680" cy="9144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891272" y="330098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6. Route to Project Finance Analyst then Project Lead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94360" y="4480560"/>
            <a:ext cx="3154680" cy="9144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58952" y="462686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7. Apply approved adjustments in SAP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160520" y="4480560"/>
            <a:ext cx="3154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325112" y="462686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8. Release and deliver invoice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726680" y="4480560"/>
            <a:ext cx="3154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891272" y="462686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9. Reconstruct later disputes from archived evidence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94360" y="5638800"/>
            <a:ext cx="10954512" cy="55880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04672" y="5638800"/>
            <a:ext cx="10515600" cy="55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The heavy lift sits in steps 4-7, especially document matching, exception triage, approval loops, and repeat re-validation after adjustments.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43271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9"/>
          <p:cNvSpPr/>
          <p:nvPr/>
        </p:nvSpPr>
        <p:spPr>
          <a:xfrm>
            <a:off x="6199632" y="1905000"/>
            <a:ext cx="539496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594360" y="1905000"/>
            <a:ext cx="539496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People and controls</a:t>
            </a:r>
            <a:endParaRPr lang="en-US" sz="900" dirty="0"/>
          </a:p>
        </p:txBody>
      </p:sp>
      <p:pic>
        <p:nvPicPr>
          <p:cNvPr id="4" name="Image 0" descr="/Users/ricky.c.wong/.copilot/skills/creating-accenture-presentations/assets/greater-than/Acc_GT_Solid_P1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310896"/>
            <a:ext cx="320040" cy="320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6400800"/>
            <a:ext cx="11018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1138428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1323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Who matters in the operating model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Your design has to respect both authority and the existing approval chain.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2133600"/>
            <a:ext cx="53035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Stakeholders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36208" y="2133600"/>
            <a:ext cx="53492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Design guardrails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04672" y="2514600"/>
            <a:ext cx="4919472" cy="33284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Billing Analysts execute collation, reconciliation, adjustments, release, and archiving.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Senior Billing Analysts handle edge cases, disputes, and custom invoice formats.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Project Finance Analysts provide first-level review before anything reaches the Project Lead.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Project Leads are final approvers, but their day-to-day workflow must stay unchanged in the prototype.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19088" y="2514600"/>
            <a:ext cx="4919472" cy="33284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No Project Lead-facing changes during the initiative window.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SAP stays the system of record; any write to SAP must be demonstrably risk-free.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Existing batch jobs and scheduled ERP triggers are out of scope.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Use only synthetic data and preserve compliance-grade traceability.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12960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19"/>
          <p:cNvSpPr/>
          <p:nvPr/>
        </p:nvSpPr>
        <p:spPr>
          <a:xfrm>
            <a:off x="6190488" y="3810000"/>
            <a:ext cx="5404104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94360" y="3810000"/>
            <a:ext cx="541324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9372600" y="1847088"/>
            <a:ext cx="2331720" cy="18796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446520" y="1847088"/>
            <a:ext cx="2331720" cy="18796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520440" y="1847088"/>
            <a:ext cx="2331720" cy="18796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1847088"/>
            <a:ext cx="2331720" cy="18796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Data and pain points</a:t>
            </a:r>
            <a:endParaRPr lang="en-US" sz="900" dirty="0"/>
          </a:p>
        </p:txBody>
      </p:sp>
      <p:pic>
        <p:nvPicPr>
          <p:cNvPr id="4" name="Image 0" descr="/Users/ricky.c.wong/.copilot/skills/creating-accenture-presentations/assets/greater-than/Acc_GT_Solid_P1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310896"/>
            <a:ext cx="320040" cy="320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6400800"/>
            <a:ext cx="11018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38428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1323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Why the work is hard to automate today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The same billing fact can live in multiple systems, files, and conversations at the same time.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58952" y="1993392"/>
            <a:ext cx="2002536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SAP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58952" y="2286000"/>
            <a:ext cx="2002536" cy="12618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System of record for contracts, rates, transactions, holds, notes, drafts, and delivery instructions.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685032" y="1993392"/>
            <a:ext cx="2002536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SharePoint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685032" y="2286000"/>
            <a:ext cx="2002536" cy="12618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Repository for receipts, invoices, folios, mileage logs, prior packages, and client templates.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611112" y="1993392"/>
            <a:ext cx="2002536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Communications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611112" y="2286000"/>
            <a:ext cx="2002536" cy="12618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Email, Teams, ServiceNow, and SAP notes all carry guidance, approvals, and exception decisions.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537192" y="1993392"/>
            <a:ext cx="2002536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Analyst tools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537192" y="2286000"/>
            <a:ext cx="2002536" cy="12618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Excel, PDF editing, personal trackers, and verbal handoffs fill the gaps between systems.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04672" y="4000500"/>
            <a:ext cx="219456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Primary pain points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400800" y="4000500"/>
            <a:ext cx="25603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What this means for teams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04672" y="4318000"/>
            <a:ext cx="4846320" cy="11521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19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Document-side matching is the largest time sink, especially for messy receipts and partial claims.</a:t>
            </a:r>
            <a:endParaRPr lang="en-US" sz="1400" dirty="0"/>
          </a:p>
          <a:p>
            <a:pPr marL="0" indent="0">
              <a:lnSpc>
                <a:spcPts val="19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Approved adjustments regenerate the draft invoice and force full re-validation.</a:t>
            </a:r>
            <a:endParaRPr lang="en-US" sz="1400" dirty="0"/>
          </a:p>
          <a:p>
            <a:pPr marL="0" indent="0">
              <a:lnSpc>
                <a:spcPts val="19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Institutional memory is personal, fragmented, and lost during handoffs.</a:t>
            </a:r>
            <a:endParaRPr lang="en-US" sz="1400" dirty="0"/>
          </a:p>
          <a:p>
            <a:pPr marL="0" indent="0">
              <a:lnSpc>
                <a:spcPts val="19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Analysts often rely on last cycle's invoice because billing rules are not consolidated anywhere.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400800" y="4318000"/>
            <a:ext cx="493776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Analysts re-decide familiar exceptions, reopen prior invoices to infer contract rules, and lose time every time a late adjustment forces a full pass through the package again.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8161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19"/>
          <p:cNvSpPr/>
          <p:nvPr/>
        </p:nvSpPr>
        <p:spPr>
          <a:xfrm>
            <a:off x="6199632" y="3708400"/>
            <a:ext cx="5394960" cy="223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94360" y="3708400"/>
            <a:ext cx="5394960" cy="223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9226296" y="1841500"/>
            <a:ext cx="2368296" cy="16256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501384" y="1841500"/>
            <a:ext cx="2514600" cy="16256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547872" y="1841500"/>
            <a:ext cx="2743200" cy="16256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1841500"/>
            <a:ext cx="2743200" cy="16256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Value case</a:t>
            </a:r>
            <a:endParaRPr lang="en-US" sz="900" dirty="0"/>
          </a:p>
        </p:txBody>
      </p:sp>
      <p:pic>
        <p:nvPicPr>
          <p:cNvPr id="4" name="Image 0" descr="/Users/ricky.c.wong/.copilot/skills/creating-accenture-presentations/assets/greater-than/Acc_GT_Solid_P1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310896"/>
            <a:ext cx="320040" cy="320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6400800"/>
            <a:ext cx="11018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38428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1323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What success must look like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The business case depends on both hard KPI improvement and where the firm spends the most analyst effort.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58952" y="1993392"/>
            <a:ext cx="2414016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Efficiency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58952" y="2260600"/>
            <a:ext cx="2414016" cy="1117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At least 50% lower cost per invoice and at least 50% fewer analyst hours.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712464" y="1993392"/>
            <a:ext cx="2414016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Speed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712464" y="2260600"/>
            <a:ext cx="2414016" cy="1117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At least 25% lower cycle time from cost incurrence to delivered invoice.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665976" y="1993392"/>
            <a:ext cx="2185416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Autonomy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665976" y="2260600"/>
            <a:ext cx="2185416" cy="1117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At least 55% of exceptions resolved without Project Lead involvement.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390888" y="1993392"/>
            <a:ext cx="2039112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Control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390888" y="2260600"/>
            <a:ext cx="2039112" cy="1117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At least 90% extraction accuracy, at least 90% first-pass approval, and zero critical compliance failures.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04672" y="3886200"/>
            <a:ext cx="137160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Scale profile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419088" y="3886200"/>
            <a:ext cx="192024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Implication for rollout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04672" y="4191000"/>
            <a:ext cx="4846320" cy="1651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About 20,000 invoices per month firmwide.</a:t>
            </a:r>
            <a:endParaRPr lang="en-US" sz="14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About 200 Billing Analysts globally.</a:t>
            </a:r>
            <a:endParaRPr lang="en-US" sz="14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The US drives 10,000+ invoices per month and more than half of all volume.</a:t>
            </a:r>
            <a:endParaRPr lang="en-US" sz="14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T&amp;M invoices create most of the document and exception effort, especially in the US.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419088" y="4191000"/>
            <a:ext cx="4892040" cy="1651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Solutions that improve T&amp;M handling create the biggest early payoff in the US. Regions with more fixed-fee and milestone work still matter, but the value curve is flatter, so your sequencing and sensitivity analysis must show that.</a:t>
            </a:r>
            <a:endParaRPr lang="en-US" sz="14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29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9"/>
          <p:cNvSpPr/>
          <p:nvPr/>
        </p:nvSpPr>
        <p:spPr>
          <a:xfrm>
            <a:off x="6199632" y="1905000"/>
            <a:ext cx="539496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94360" y="1905000"/>
            <a:ext cx="539496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Context</a:t>
            </a:r>
            <a:endParaRPr lang="en-US" sz="900" dirty="0"/>
          </a:p>
        </p:txBody>
      </p:sp>
      <p:pic>
        <p:nvPicPr>
          <p:cNvPr id="4" name="Image 0" descr="/Users/ricky.c.wong/.copilot/skills/creating-accenture-presentations/assets/greater-than/Acc_GT_Solid_P1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310896"/>
            <a:ext cx="320040" cy="320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6400800"/>
            <a:ext cx="11018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38428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1323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What teams must account for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Regional differences change the rollout shape, even when the core bottlenecks look similar.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2133600"/>
            <a:ext cx="53035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Inputs and sources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36208" y="2133600"/>
            <a:ext cx="53492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Critical KPI targets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04672" y="2514600"/>
            <a:ext cx="4919472" cy="33284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SAP: contracts, rates, unbilled lines, holds, notes, drafts, and delivery instructions.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SharePoint: receipts, invoices, folios, mileage logs, prior packages, and client templates.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Communications: SAP notes, email, Teams, ServiceNow, and occasional verbal handoffs.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Analyst tools: Excel, PDF editing, personal trackers, and senior-analyst memory.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 synthetic Appendix A data pack is provided to build and test on.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19088" y="2514600"/>
            <a:ext cx="4919472" cy="33284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Cost per invoice: at least 50% lower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Cycle time: at least 25% lower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Analyst hours per invoice: at least 50% lower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Exceptions resolved without Project Lead: at least 55%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Amount extraction accuracy: at least 90%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First-pass Project Lead approval: at least 90%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Critical compliance failures: zero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84533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3"/>
          <p:cNvSpPr/>
          <p:nvPr/>
        </p:nvSpPr>
        <p:spPr>
          <a:xfrm>
            <a:off x="6199632" y="1905000"/>
            <a:ext cx="5394960" cy="273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594360" y="1905000"/>
            <a:ext cx="5394960" cy="273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Team mission</a:t>
            </a:r>
            <a:endParaRPr lang="en-US" sz="900" dirty="0"/>
          </a:p>
        </p:txBody>
      </p:sp>
      <p:pic>
        <p:nvPicPr>
          <p:cNvPr id="4" name="Image 0" descr="/Users/ricky.c.wong/.copilot/skills/creating-accenture-presentations/assets/greater-than/Acc_GT_Solid_P1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310896"/>
            <a:ext cx="320040" cy="320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6400800"/>
            <a:ext cx="11018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1138428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1323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What you need to deliver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Turn the case into a qualified RDE opportunity, prove the highest-value slice, and make the 90-day investment case. The prototype is one piece of a larger deliverable set.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04672" y="2133600"/>
            <a:ext cx="2011680" cy="279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Reinvented process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04672" y="2540000"/>
            <a:ext cx="4892040" cy="2006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Qualified RDE use case, problem statement, and success criteria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Value hypothesis with ROI logic and the MVP boundary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Target future-state process with human-in-the-loop design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Dependency and risk register, plus key assumptions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419088" y="2133600"/>
            <a:ext cx="2011680" cy="279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Build, prove, and deliver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19088" y="2540000"/>
            <a:ext cx="4892040" cy="2006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Working prototype on sample data, with controls and exception handling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Go-live readiness view: data, controls, security, adoption, support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Day-91 scale-up roadmap and phased rollout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Executive pitch and demo with the measurable value case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43460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B5528B7-2AD9-794D-858E-4194970C37A9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0fe5cfa-372a-4a17-9824-4b6cde03bca2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92ECF76002CE4282CAD8C55ED02EA3" ma:contentTypeVersion="3" ma:contentTypeDescription="Create a new document." ma:contentTypeScope="" ma:versionID="c6a8fe0bd8d9d1a075aba06b398b7ec0">
  <xsd:schema xmlns:xsd="http://www.w3.org/2001/XMLSchema" xmlns:xs="http://www.w3.org/2001/XMLSchema" xmlns:p="http://schemas.microsoft.com/office/2006/metadata/properties" xmlns:ns2="7a0aa4be-b43b-4653-b8d9-a2c2cf2df9d1" targetNamespace="http://schemas.microsoft.com/office/2006/metadata/properties" ma:root="true" ma:fieldsID="873de6f28574b7a466ac2ddc10276152" ns2:_="">
    <xsd:import namespace="7a0aa4be-b43b-4653-b8d9-a2c2cf2df9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0aa4be-b43b-4653-b8d9-a2c2cf2df9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46E6CF5-8F3F-46DE-B764-0557E1B26712}"/>
</file>

<file path=customXml/itemProps2.xml><?xml version="1.0" encoding="utf-8"?>
<ds:datastoreItem xmlns:ds="http://schemas.openxmlformats.org/officeDocument/2006/customXml" ds:itemID="{5C81681B-2DEF-40B3-9562-D1E78048B2E2}"/>
</file>

<file path=customXml/itemProps3.xml><?xml version="1.0" encoding="utf-8"?>
<ds:datastoreItem xmlns:ds="http://schemas.openxmlformats.org/officeDocument/2006/customXml" ds:itemID="{7A1F4C3D-9189-47F9-B39D-0AEB8C537899}"/>
</file>

<file path=docMetadata/LabelInfo.xml><?xml version="1.0" encoding="utf-8"?>
<clbl:labelList xmlns:clbl="http://schemas.microsoft.com/office/2020/mipLabelMetadata">
  <clbl:label id="{defa4170-0d19-0005-0004-bc88714345d2}" enabled="1" method="Standard" siteId="{5494225a-419c-4ec8-86ee-2b682f0f2e5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1208</Words>
  <Application>Microsoft Macintosh PowerPoint</Application>
  <PresentationFormat>Widescreen</PresentationFormat>
  <Paragraphs>131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Graphik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Accenture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Hackathon participant guide</dc:title>
  <dc:subject>Participant guide deck for the Meridian billing-cycle hackathon</dc:subject>
  <dc:creator>GitHub Copilot</dc:creator>
  <cp:lastModifiedBy>Ricky C. Wong</cp:lastModifiedBy>
  <cp:revision>2</cp:revision>
  <dcterms:created xsi:type="dcterms:W3CDTF">2026-05-15T20:15:38Z</dcterms:created>
  <dcterms:modified xsi:type="dcterms:W3CDTF">2026-06-04T22:05:34Z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0x010100C792ECF76002CE4282CAD8C55ED02EA3</vt:lpwstr>
  </property>
  <property fmtid="{D5CDD505-2E9C-101B-9397-08002B2CF9AE}" pid="3" name="Order">
    <vt:r8>1700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